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A8FB12C-4E99-4D8B-BA95-88C9823B20A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5670F0-24B3-4B0D-80A2-28FD9D5F745F}" type="datetimeFigureOut">
              <a:rPr lang="en-US" smtClean="0"/>
              <a:t>22-Jun-26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90002-A4D0-4076-8259-E923C123E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666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90002-A4D0-4076-8259-E923C123EBA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727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47CAE-BFAC-D7B1-FE48-01B87BBF1E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B7D4E8-73BC-1E91-636A-BB0631E1A3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9132D-51CE-49FE-E6C4-344C0444C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996D-20F3-4CED-897A-8F1280252E02}" type="datetimeFigureOut">
              <a:rPr lang="en-US" smtClean="0"/>
              <a:t>22-Jun-26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A1915-9318-1DE2-6CD3-D3CA4233B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283C6-482A-D4D6-36D5-1ADC95CB7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6DB3-1E0C-46A1-83E8-FAF890BD5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845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C2719-D501-9C91-80A8-BCE42C6E7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F464A-4D25-FC16-C42B-38F59B498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099BF-648E-33D1-00E1-84461F8D8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996D-20F3-4CED-897A-8F1280252E02}" type="datetimeFigureOut">
              <a:rPr lang="en-US" smtClean="0"/>
              <a:t>22-Jun-26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0B782-7E11-FF1B-D362-626CBBE8C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9A22E-C9FE-4676-44FB-0501712D3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6DB3-1E0C-46A1-83E8-FAF890BD5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0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4D395-330C-5E46-CE0C-462FDBB8D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D1974-104B-F56C-D7BF-CACB5417E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98F70-07B6-C892-8E63-264780B5F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996D-20F3-4CED-897A-8F1280252E02}" type="datetimeFigureOut">
              <a:rPr lang="en-US" smtClean="0"/>
              <a:t>22-Jun-26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A971D-9EFA-FF2B-71E2-437F9FBE4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85CA5-5339-5719-1583-EBBAA95D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6DB3-1E0C-46A1-83E8-FAF890BD5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576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1CFCA-F55A-F921-1C89-1C0493767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FCE31-FFD0-D1DB-B98C-0030EF40E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515C0-AA6E-648A-5A5B-E91A3B577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A09EC-CEF0-B16F-6185-A3BFCEF40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996D-20F3-4CED-897A-8F1280252E02}" type="datetimeFigureOut">
              <a:rPr lang="en-US" smtClean="0"/>
              <a:t>22-Jun-26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ADB8D0-FCFB-9408-C7EE-E25B87501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9BE6-FCA3-69C7-AD50-1483C2BCD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6DB3-1E0C-46A1-83E8-FAF890BD5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03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22A36-31E4-59D4-D60C-F2AFF8DE3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24BC6-DA00-E2CE-5DBC-C95081C0A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8C2695-9AD6-D80C-0D9C-B5A5C1A8F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620103-98C9-D64A-E415-F6AECAD3DD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3896E2-385A-2D17-6603-83EF8C383B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98219A-C2B1-0E10-596F-C297D81DB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996D-20F3-4CED-897A-8F1280252E02}" type="datetimeFigureOut">
              <a:rPr lang="en-US" smtClean="0"/>
              <a:t>22-Jun-26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C83CF5-140D-36C6-EA4D-FCEFF31A3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390F0B-BCF4-713C-DD01-FB5785E21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6DB3-1E0C-46A1-83E8-FAF890BD5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935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3F6D9-5478-50FC-4F34-7F31F445D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0F9B7-14F5-0DBA-EB41-98760F10D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996D-20F3-4CED-897A-8F1280252E02}" type="datetimeFigureOut">
              <a:rPr lang="en-US" smtClean="0"/>
              <a:t>22-Jun-26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305DB5-4FAB-E5FA-B4FE-E6F77B5E1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5E1945-69E9-07D8-A96A-37216D6A1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6DB3-1E0C-46A1-83E8-FAF890BD5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917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8C7962-CE96-61E8-FAF6-4C29DB64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996D-20F3-4CED-897A-8F1280252E02}" type="datetimeFigureOut">
              <a:rPr lang="en-US" smtClean="0"/>
              <a:t>22-Jun-26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062F3C-DDF5-2CA3-D7BA-E14E318C9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06F5A-C389-A9B8-BDAE-51BDE3024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6DB3-1E0C-46A1-83E8-FAF890BD5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45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D4651-545A-8E8A-89A3-02C84FB98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EB909-8FC3-15A5-CEF9-DAD1B856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197BEE-6D3A-0BDB-FB58-F30B9886F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60A45-4DD1-DB03-1A0F-768315D5C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996D-20F3-4CED-897A-8F1280252E02}" type="datetimeFigureOut">
              <a:rPr lang="en-US" smtClean="0"/>
              <a:t>22-Jun-26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3DF3B-6D79-6904-6895-C3435B2DE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8F625-BA52-92FD-0189-96EB737AF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6DB3-1E0C-46A1-83E8-FAF890BD5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76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E4124-D33F-67A6-A166-31686F1F4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AC75DE-6E02-8941-8965-9E95367D91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7B537A-17A9-56A6-4988-D3E7A62D6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DD745-F031-1BD3-10F0-D49DC93BB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996D-20F3-4CED-897A-8F1280252E02}" type="datetimeFigureOut">
              <a:rPr lang="en-US" smtClean="0"/>
              <a:t>22-Jun-26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34A51-38E8-F2AB-482D-3491C7EA4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E1A2D3-26AB-EF1C-890C-656269265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6DB3-1E0C-46A1-83E8-FAF890BD5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39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612A2-4C2A-ECCB-FDE1-9602EE84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AEFEC6-8CA2-94D8-3E43-FA21F174E7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B2E35-4FA0-A448-3F1C-1CC4A9ACB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996D-20F3-4CED-897A-8F1280252E02}" type="datetimeFigureOut">
              <a:rPr lang="en-US" smtClean="0"/>
              <a:t>22-Jun-26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10251-5925-AFEF-C4EF-CD72C49FF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A692A-40CD-3805-0896-46B2A8624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6DB3-1E0C-46A1-83E8-FAF890BD5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663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4F0169-D6FF-5BDB-8223-67A0B35656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A81A11-E880-7331-9384-BC9B742D4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50B2D-DC1C-DFFD-41A4-1142B6F8E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996D-20F3-4CED-897A-8F1280252E02}" type="datetimeFigureOut">
              <a:rPr lang="en-US" smtClean="0"/>
              <a:t>22-Jun-26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6B67A-6D6B-930D-AD03-0F94977D2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A59CE-2787-307C-0091-69BC113D7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6DB3-1E0C-46A1-83E8-FAF890BD5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322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A3C4A2-04F8-CEDD-F029-4C2DA49E2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6E8AD-9BC3-D10D-C389-EC1F1A1B9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26B62-CA6C-6BC4-4ADB-038389FB04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1996D-20F3-4CED-897A-8F1280252E02}" type="datetimeFigureOut">
              <a:rPr lang="en-US" smtClean="0"/>
              <a:t>22-Jun-26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59D40-D8B8-8811-2F2F-3D51E9640A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ABC1-335E-35D4-E4BA-045F9AE780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F6DB3-1E0C-46A1-83E8-FAF890BD5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331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aggle.com/datasets/ivasanthp/zomato-food-delivery-insight-dat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9E40052-0A2D-3BF7-CD69-B4E0D9584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275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EB2978-85D1-7018-2226-EA83C99CC862}"/>
              </a:ext>
            </a:extLst>
          </p:cNvPr>
          <p:cNvSpPr txBox="1"/>
          <p:nvPr/>
        </p:nvSpPr>
        <p:spPr>
          <a:xfrm>
            <a:off x="192832" y="6298164"/>
            <a:ext cx="11999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Kaggle dataset Link  </a:t>
            </a:r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</a:t>
            </a:r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.kaggle.com/datasets/ivasanthp/zomato-food-delivery-insight-data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618B9F34-EAFD-3A70-A392-5AD3DB434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466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D7DA1E-7AD1-B1DE-0B34-DE9027666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721E3B-E146-3E47-E62B-D6548E5F6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5275" y="867747"/>
            <a:ext cx="9946725" cy="599025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EE0D0D3-51C8-6A92-4AA4-F7DF087D9C24}"/>
              </a:ext>
            </a:extLst>
          </p:cNvPr>
          <p:cNvSpPr/>
          <p:nvPr/>
        </p:nvSpPr>
        <p:spPr>
          <a:xfrm>
            <a:off x="83975" y="144625"/>
            <a:ext cx="3900196" cy="57849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ER-Diagram</a:t>
            </a:r>
            <a:endParaRPr lang="en-US" sz="3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48447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91B29-E1EA-C817-3C7A-D98DD1F7C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09E8E15-ACFD-30EA-46D8-CB8033721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7976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9860D8-7D1F-7A35-2DB5-C36523A2D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49" y="959721"/>
            <a:ext cx="6592220" cy="3762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B6AEE4-562F-9993-51C9-D0741E0E63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556" y="4536009"/>
            <a:ext cx="6668431" cy="16480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CD8E812-D464-E0C4-96E5-733CB66143B4}"/>
              </a:ext>
            </a:extLst>
          </p:cNvPr>
          <p:cNvSpPr/>
          <p:nvPr/>
        </p:nvSpPr>
        <p:spPr>
          <a:xfrm>
            <a:off x="185056" y="83310"/>
            <a:ext cx="9742715" cy="79310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AC84E4-B196-4DBD-A99E-0509CBD6E314}"/>
              </a:ext>
            </a:extLst>
          </p:cNvPr>
          <p:cNvSpPr/>
          <p:nvPr/>
        </p:nvSpPr>
        <p:spPr>
          <a:xfrm>
            <a:off x="242442" y="156695"/>
            <a:ext cx="955178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1.Which customers generate the highest revenue?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383318-DE63-F6C8-8390-E6A6ADEF2087}"/>
              </a:ext>
            </a:extLst>
          </p:cNvPr>
          <p:cNvSpPr txBox="1"/>
          <p:nvPr/>
        </p:nvSpPr>
        <p:spPr>
          <a:xfrm>
            <a:off x="94013" y="6405358"/>
            <a:ext cx="12246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-- Customer 436 generated the highest revenue of ₹13,845.66 from 5 delivered orders, with an average order value of ₹2,769.13.</a:t>
            </a:r>
          </a:p>
        </p:txBody>
      </p:sp>
    </p:spTree>
    <p:extLst>
      <p:ext uri="{BB962C8B-B14F-4D97-AF65-F5344CB8AC3E}">
        <p14:creationId xmlns:p14="http://schemas.microsoft.com/office/powerpoint/2010/main" val="1668470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4320E9-1658-A4DD-6052-203FA3AB49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14F2D0-B212-8B39-0DD4-8D12A7077C3E}"/>
              </a:ext>
            </a:extLst>
          </p:cNvPr>
          <p:cNvSpPr txBox="1"/>
          <p:nvPr/>
        </p:nvSpPr>
        <p:spPr>
          <a:xfrm>
            <a:off x="139958" y="167951"/>
            <a:ext cx="10879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2.Who are the top 10 customers by number of orders?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32C914-890D-F293-2BE3-15E83E5FB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58" y="1151813"/>
            <a:ext cx="4851920" cy="34124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646B19-5D70-71E1-B260-381C77D1BB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878" y="3496007"/>
            <a:ext cx="5019869" cy="24196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9C19625-35C3-75D9-B7F0-483AB26417C8}"/>
              </a:ext>
            </a:extLst>
          </p:cNvPr>
          <p:cNvSpPr txBox="1"/>
          <p:nvPr/>
        </p:nvSpPr>
        <p:spPr>
          <a:xfrm>
            <a:off x="139958" y="6043718"/>
            <a:ext cx="9217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The most active customers were Customer IDs 227,92 AND 436.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Also, customer_id 436 appeared in top 1 highest revenue generate list with frequently orders</a:t>
            </a:r>
          </a:p>
        </p:txBody>
      </p:sp>
    </p:spTree>
    <p:extLst>
      <p:ext uri="{BB962C8B-B14F-4D97-AF65-F5344CB8AC3E}">
        <p14:creationId xmlns:p14="http://schemas.microsoft.com/office/powerpoint/2010/main" val="1855852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2AE907-71F6-F283-6F47-C46EC49B7E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0476" cy="68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FB5EDC-4379-9ED9-19BE-0939D7EA34B1}"/>
              </a:ext>
            </a:extLst>
          </p:cNvPr>
          <p:cNvSpPr txBox="1"/>
          <p:nvPr/>
        </p:nvSpPr>
        <p:spPr>
          <a:xfrm>
            <a:off x="438539" y="214605"/>
            <a:ext cx="9632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3.Which customers have high order frequency but low spending?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5F4259-B577-7EB8-7606-FF6811592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0" y="1108815"/>
            <a:ext cx="7001852" cy="37819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06DEE7-704B-8D80-4458-2C6F84DA3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1616" y="3993828"/>
            <a:ext cx="4505954" cy="16004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D202103-9A20-BCE5-3FEF-1321EE504184}"/>
              </a:ext>
            </a:extLst>
          </p:cNvPr>
          <p:cNvSpPr txBox="1"/>
          <p:nvPr/>
        </p:nvSpPr>
        <p:spPr>
          <a:xfrm>
            <a:off x="186527" y="5997064"/>
            <a:ext cx="117710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Customer_id 92 have high frequency in ordering but customer is low spending . We can attract her with more campaigns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Customer_id 436 stand outs again with high frequency of orders with high revenue along side with customer_id 227</a:t>
            </a:r>
          </a:p>
        </p:txBody>
      </p:sp>
    </p:spTree>
    <p:extLst>
      <p:ext uri="{BB962C8B-B14F-4D97-AF65-F5344CB8AC3E}">
        <p14:creationId xmlns:p14="http://schemas.microsoft.com/office/powerpoint/2010/main" val="2339240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E920D-D631-A993-CC62-D4F137F0A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8F2B37-4284-FA3B-1A13-9E0291F6F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A904F6-AF2B-B13C-E691-7EC3FD69D8DB}"/>
              </a:ext>
            </a:extLst>
          </p:cNvPr>
          <p:cNvSpPr txBox="1"/>
          <p:nvPr/>
        </p:nvSpPr>
        <p:spPr>
          <a:xfrm>
            <a:off x="223935" y="205274"/>
            <a:ext cx="119142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4.Identify customers whose order frequency has declined significantly over time.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FBF0A9-8E5A-A039-EA4B-074BB14F1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49" y="1038673"/>
            <a:ext cx="8532036" cy="43140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2CC1C6-B4CD-7827-0F97-CEE3B8838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19" y="3428999"/>
            <a:ext cx="5572903" cy="22291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5B7512-6A68-C71F-A0DE-08788E23C067}"/>
              </a:ext>
            </a:extLst>
          </p:cNvPr>
          <p:cNvSpPr txBox="1"/>
          <p:nvPr/>
        </p:nvSpPr>
        <p:spPr>
          <a:xfrm>
            <a:off x="223935" y="6206301"/>
            <a:ext cx="6820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Customer_id 464,303,266,223 </a:t>
            </a:r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didnot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 order any orders in last 1 year</a:t>
            </a:r>
          </a:p>
        </p:txBody>
      </p:sp>
    </p:spTree>
    <p:extLst>
      <p:ext uri="{BB962C8B-B14F-4D97-AF65-F5344CB8AC3E}">
        <p14:creationId xmlns:p14="http://schemas.microsoft.com/office/powerpoint/2010/main" val="2459053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05EE1-AD6C-5839-C7D4-D3D6AC630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FA1CFB-19F0-2647-D76D-F75F36F2A3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BFEBB0-EC6C-EB62-EAEE-5F8252D842FB}"/>
              </a:ext>
            </a:extLst>
          </p:cNvPr>
          <p:cNvSpPr txBox="1"/>
          <p:nvPr/>
        </p:nvSpPr>
        <p:spPr>
          <a:xfrm>
            <a:off x="345233" y="279919"/>
            <a:ext cx="11101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Which restaurants generate the highest revenue despite having average ratings?(TOP 3)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A8C21F-91C4-C8F7-FFCB-81B7EEF27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31" y="1021076"/>
            <a:ext cx="8364117" cy="37561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598CC5-C67D-A4FF-F7F7-18DACA4091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431" y="4866412"/>
            <a:ext cx="11060068" cy="12288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04605E-0D08-4668-412B-E590D191404E}"/>
              </a:ext>
            </a:extLst>
          </p:cNvPr>
          <p:cNvSpPr txBox="1"/>
          <p:nvPr/>
        </p:nvSpPr>
        <p:spPr>
          <a:xfrm>
            <a:off x="205661" y="6095308"/>
            <a:ext cx="11751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Out of 28 restaurants, 24 restaurants are having less </a:t>
            </a:r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avg_delivery_time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(100).This indicates people are preferring more for fast deliveries than good rating.</a:t>
            </a:r>
          </a:p>
        </p:txBody>
      </p:sp>
    </p:spTree>
    <p:extLst>
      <p:ext uri="{BB962C8B-B14F-4D97-AF65-F5344CB8AC3E}">
        <p14:creationId xmlns:p14="http://schemas.microsoft.com/office/powerpoint/2010/main" val="2460799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5C8A-A516-7813-6073-F0D70E65C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05BA9B-6855-0957-1D92-1AC2F7DE7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0476" cy="68571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99E332-4B33-288B-5F9D-746A30E3B0B9}"/>
              </a:ext>
            </a:extLst>
          </p:cNvPr>
          <p:cNvSpPr txBox="1"/>
          <p:nvPr/>
        </p:nvSpPr>
        <p:spPr>
          <a:xfrm>
            <a:off x="401216" y="261257"/>
            <a:ext cx="11367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Which restaurants have excellent ratings but surprisingly low order volumes?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182879-1447-F420-A767-7D48C88A6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58" y="1045735"/>
            <a:ext cx="8143610" cy="39274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358BF9-5F3A-58B1-0A77-6EF03CC81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1616" y="3933703"/>
            <a:ext cx="8509519" cy="19814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B41C11-6049-0EE9-B495-4D9FD7F7BBB6}"/>
              </a:ext>
            </a:extLst>
          </p:cNvPr>
          <p:cNvSpPr txBox="1"/>
          <p:nvPr/>
        </p:nvSpPr>
        <p:spPr>
          <a:xfrm>
            <a:off x="401216" y="6018952"/>
            <a:ext cx="8276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These are the Restaurants generating less revenue despite having excellent rating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Amount_per_order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 and </a:t>
            </a:r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Avg_delivery_time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 can be reasons for less revenue.</a:t>
            </a:r>
          </a:p>
        </p:txBody>
      </p:sp>
    </p:spTree>
    <p:extLst>
      <p:ext uri="{BB962C8B-B14F-4D97-AF65-F5344CB8AC3E}">
        <p14:creationId xmlns:p14="http://schemas.microsoft.com/office/powerpoint/2010/main" val="1828459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33433-0DC3-A79C-8435-937317EAE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D70752-9658-C143-AC61-20C23029EC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238580-A0B2-61D8-E410-04A05790160C}"/>
              </a:ext>
            </a:extLst>
          </p:cNvPr>
          <p:cNvSpPr txBox="1"/>
          <p:nvPr/>
        </p:nvSpPr>
        <p:spPr>
          <a:xfrm>
            <a:off x="391886" y="223935"/>
            <a:ext cx="111735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Rank restaurants within each cuisine category based on revenue generated.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1612CC-4271-B17D-1402-D8ACA7D54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65" y="1031954"/>
            <a:ext cx="8907118" cy="38905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394B32-76C5-B122-2495-55C05B413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5812" y="4163968"/>
            <a:ext cx="6789323" cy="15718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33B8A0-97C0-579D-8767-48337BC1C4CF}"/>
              </a:ext>
            </a:extLst>
          </p:cNvPr>
          <p:cNvSpPr txBox="1"/>
          <p:nvPr/>
        </p:nvSpPr>
        <p:spPr>
          <a:xfrm>
            <a:off x="531845" y="6112025"/>
            <a:ext cx="625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These are Restaurants Tops 1 in their respective </a:t>
            </a:r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Cuisine_type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4461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7E9E6-928B-26EC-95FF-B536278A3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7AC3A7-C5DA-4A94-EEA8-6C8E59C56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2C2FBD-1C3A-908A-E4A5-C644235D5BAF}"/>
              </a:ext>
            </a:extLst>
          </p:cNvPr>
          <p:cNvSpPr txBox="1"/>
          <p:nvPr/>
        </p:nvSpPr>
        <p:spPr>
          <a:xfrm>
            <a:off x="172038" y="279918"/>
            <a:ext cx="11847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Which restaurants receive the highest customer ratings while maintaining fast delivery times?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4FD111-26CE-A7F2-2E1C-811B35782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38" y="1021073"/>
            <a:ext cx="8478433" cy="32896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FC4740-D59B-BCDA-93D2-8600BBA78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5779" y="4406216"/>
            <a:ext cx="7316221" cy="15146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E523EA-586B-4874-D839-2BEC9C4DEAC0}"/>
              </a:ext>
            </a:extLst>
          </p:cNvPr>
          <p:cNvSpPr txBox="1"/>
          <p:nvPr/>
        </p:nvSpPr>
        <p:spPr>
          <a:xfrm>
            <a:off x="307910" y="6066071"/>
            <a:ext cx="115990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These restaurants maintain fast delivery times while achieving high customer ratings.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Savor Eatery (French) and Royal Eatery (Cafe) show the best balance between delivery speed and customer satisfaction</a:t>
            </a:r>
          </a:p>
        </p:txBody>
      </p:sp>
    </p:spTree>
    <p:extLst>
      <p:ext uri="{BB962C8B-B14F-4D97-AF65-F5344CB8AC3E}">
        <p14:creationId xmlns:p14="http://schemas.microsoft.com/office/powerpoint/2010/main" val="2008750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9379E-6465-4AEE-81CC-25B478B6C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7E83B6-029C-7215-EC8B-3231428E2F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90476" cy="68571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F31C28-340B-8068-F10E-8F169E155917}"/>
              </a:ext>
            </a:extLst>
          </p:cNvPr>
          <p:cNvSpPr txBox="1"/>
          <p:nvPr/>
        </p:nvSpPr>
        <p:spPr>
          <a:xfrm>
            <a:off x="308672" y="298580"/>
            <a:ext cx="105500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What percentage of total platform revenue is contributed by the top 5 restaurants?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1FA170-BE55-A1B3-D0FE-016088C5D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25" y="1058825"/>
            <a:ext cx="8535591" cy="30865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7096EE-F031-792D-392A-246180D25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3616" y="4232935"/>
            <a:ext cx="1486107" cy="7621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F581C2-AC40-97AC-915C-37E6A219CC07}"/>
              </a:ext>
            </a:extLst>
          </p:cNvPr>
          <p:cNvSpPr txBox="1"/>
          <p:nvPr/>
        </p:nvSpPr>
        <p:spPr>
          <a:xfrm>
            <a:off x="308672" y="5799175"/>
            <a:ext cx="7074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Top 5 Restaurants are generating 14% of revenue from overall revenue</a:t>
            </a:r>
          </a:p>
        </p:txBody>
      </p:sp>
    </p:spTree>
    <p:extLst>
      <p:ext uri="{BB962C8B-B14F-4D97-AF65-F5344CB8AC3E}">
        <p14:creationId xmlns:p14="http://schemas.microsoft.com/office/powerpoint/2010/main" val="339546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7A2D0-9769-8D2E-8E48-907E3A173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7E7060-5497-5464-CBB5-1C8D1A2F1A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265B10-583E-F614-700F-0728266E950D}"/>
              </a:ext>
            </a:extLst>
          </p:cNvPr>
          <p:cNvSpPr txBox="1"/>
          <p:nvPr/>
        </p:nvSpPr>
        <p:spPr>
          <a:xfrm>
            <a:off x="429208" y="298580"/>
            <a:ext cx="107620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Which delivery partners consistently complete deliveries faster than estimated time?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704FFB-C989-05FA-5F0B-D4586D06A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72" y="1058398"/>
            <a:ext cx="8144671" cy="37468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305EFC-973D-0A31-A1E0-B019FD1F81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2373" y="4317497"/>
            <a:ext cx="7278865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013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AABC5-0F28-43B5-BDA7-D78981C69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0C140D-7226-2DA5-735A-E0D7D928D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90476" cy="68571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312A6B-950F-13CA-9579-9BCCEB1A73B3}"/>
              </a:ext>
            </a:extLst>
          </p:cNvPr>
          <p:cNvSpPr txBox="1"/>
          <p:nvPr/>
        </p:nvSpPr>
        <p:spPr>
          <a:xfrm>
            <a:off x="335902" y="279918"/>
            <a:ext cx="10880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Which vehicle type provides the most efficient deliveries based on distance and time?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7322AD-4759-E05B-D60A-3EDDE5F79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73" y="1226045"/>
            <a:ext cx="8906499" cy="34449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684E5B-DF84-7E1A-7CDB-F6E4C63BF7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614" y="4072055"/>
            <a:ext cx="5468113" cy="18576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869208-D325-8F58-7693-119C2AFACC7A}"/>
              </a:ext>
            </a:extLst>
          </p:cNvPr>
          <p:cNvSpPr txBox="1"/>
          <p:nvPr/>
        </p:nvSpPr>
        <p:spPr>
          <a:xfrm>
            <a:off x="335902" y="6208750"/>
            <a:ext cx="9979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Electric Bikes demonstrate the highest delivery efficiency, covering 787 meters per minute on average</a:t>
            </a:r>
          </a:p>
        </p:txBody>
      </p:sp>
    </p:spTree>
    <p:extLst>
      <p:ext uri="{BB962C8B-B14F-4D97-AF65-F5344CB8AC3E}">
        <p14:creationId xmlns:p14="http://schemas.microsoft.com/office/powerpoint/2010/main" val="1321066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9AF0E-2D08-0BEE-D58B-35914492A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F302A5-0D8D-2FBF-7485-F032EF38D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B86715-3DE6-D12A-711F-98D7135AC00D}"/>
              </a:ext>
            </a:extLst>
          </p:cNvPr>
          <p:cNvSpPr txBox="1"/>
          <p:nvPr/>
        </p:nvSpPr>
        <p:spPr>
          <a:xfrm>
            <a:off x="279918" y="298579"/>
            <a:ext cx="10368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How does monthly revenue trend over time and what months show significant growth or decline?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3B3D48-9BA8-5382-EBB7-7AAF4888D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12" y="1093223"/>
            <a:ext cx="6876662" cy="33653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DCFDAB-8E38-C3E4-B335-17DA01DEE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551" y="3772182"/>
            <a:ext cx="5433527" cy="27872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D4CD1F-4C49-B948-9D11-DBFA4F1CC0DA}"/>
              </a:ext>
            </a:extLst>
          </p:cNvPr>
          <p:cNvSpPr txBox="1"/>
          <p:nvPr/>
        </p:nvSpPr>
        <p:spPr>
          <a:xfrm>
            <a:off x="-117071" y="4853088"/>
            <a:ext cx="72943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July month major growth in revenue apporx.71% increase in the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Wherever </a:t>
            </a:r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february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 and June got approx. 30% dip in the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January,July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 and August have most of the revenue </a:t>
            </a:r>
          </a:p>
        </p:txBody>
      </p:sp>
    </p:spTree>
    <p:extLst>
      <p:ext uri="{BB962C8B-B14F-4D97-AF65-F5344CB8AC3E}">
        <p14:creationId xmlns:p14="http://schemas.microsoft.com/office/powerpoint/2010/main" val="1908448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3AA94-B665-D731-8E2C-4FD91220F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33C212-2A9C-1520-77C8-10DEE52F8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EAE599-3D86-C9F3-0D2F-644425359FD5}"/>
              </a:ext>
            </a:extLst>
          </p:cNvPr>
          <p:cNvSpPr txBox="1"/>
          <p:nvPr/>
        </p:nvSpPr>
        <p:spPr>
          <a:xfrm>
            <a:off x="429208" y="298580"/>
            <a:ext cx="8275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What is the impact of discounts on customer spending behavior?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A52D60-B412-420B-79F3-C75D569FA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909" y="1058397"/>
            <a:ext cx="7278116" cy="36866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593AAD-CF1A-DDC3-5D96-5CA9B7D3E8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2516" y="3734115"/>
            <a:ext cx="6049219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221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5CEAD-E800-363E-4FEB-EA7D5C773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2052CC-DA4F-946F-1523-59030E45A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7DAC08-5DBA-F09C-7E32-867202F7A238}"/>
              </a:ext>
            </a:extLst>
          </p:cNvPr>
          <p:cNvSpPr txBox="1"/>
          <p:nvPr/>
        </p:nvSpPr>
        <p:spPr>
          <a:xfrm>
            <a:off x="214604" y="223936"/>
            <a:ext cx="100784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Which payment methods are associated with the highest average order values?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98FAB7-C5B1-D1A8-A296-EBD1D0867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04" y="1126692"/>
            <a:ext cx="6735115" cy="24958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CE4111-EF8C-CA8A-9C90-91D95996F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604" y="4063681"/>
            <a:ext cx="7173683" cy="130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070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8D160-9DC5-D3E4-18D5-1B516B7C7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441C8A-5EDA-C3B6-5427-FECA1E5A59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59489E-0DBB-2CF1-409A-85F2B6760E72}"/>
              </a:ext>
            </a:extLst>
          </p:cNvPr>
          <p:cNvSpPr txBox="1"/>
          <p:nvPr/>
        </p:nvSpPr>
        <p:spPr>
          <a:xfrm>
            <a:off x="522514" y="167950"/>
            <a:ext cx="66163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Customer Lifetime Value (CLV) Ranking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4539AC-8B84-5C40-2655-120415EBB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83" y="1007419"/>
            <a:ext cx="7251593" cy="3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E8918C-BF08-78EA-E37B-E9A789062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841" y="4865409"/>
            <a:ext cx="5382376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02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FCF5B-F2AD-1EDE-7193-77749EF0E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5DF6DC-F0B0-9962-8E37-F0488D7F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57E31C-0DBC-43F3-A839-96F7B97C192C}"/>
              </a:ext>
            </a:extLst>
          </p:cNvPr>
          <p:cNvSpPr txBox="1"/>
          <p:nvPr/>
        </p:nvSpPr>
        <p:spPr>
          <a:xfrm>
            <a:off x="298580" y="270588"/>
            <a:ext cx="106820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Identify the top 20% of customers contributing approximately 80% of total revenue (Pareto Analysis).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817CC7-1D8B-0238-CA2F-C6E900D34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13" y="1053894"/>
            <a:ext cx="5782380" cy="42840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1C9C9C-6503-6FDC-F4FE-E89D2F869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5748" y="5202444"/>
            <a:ext cx="6697010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298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E870B-7618-06B7-A040-BBEFE528D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51BEFE-921D-5688-431B-74B1DC8B82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816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493</Words>
  <Application>Microsoft Office PowerPoint</Application>
  <PresentationFormat>Widescreen</PresentationFormat>
  <Paragraphs>36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Anudeep Marapally</dc:creator>
  <cp:lastModifiedBy>Anudeep Marapally</cp:lastModifiedBy>
  <cp:revision>3</cp:revision>
  <dcterms:created xsi:type="dcterms:W3CDTF">2026-06-22T15:45:41Z</dcterms:created>
  <dcterms:modified xsi:type="dcterms:W3CDTF">2026-06-22T17:31:03Z</dcterms:modified>
</cp:coreProperties>
</file>